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7490"/>
                </a:solidFill>
              </a:defRPr>
            </a:pPr>
            <a:r>
              <a:t>SLIDE 1  |  HOW SLM WORKS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Architecture and Processing Pipeline of Small Language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627632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1. English Input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Raw text &amp; domain glossary prompt</a:t>
            </a:r>
            <a:br/>
            <a:r>
              <a:t>e.g. '&gt;&gt;tel&lt;&lt; Firewall'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23744" y="1645920"/>
            <a:ext cx="1627632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2. Tokenization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Subword segmentation using</a:t>
            </a:r>
            <a:br/>
            <a:r>
              <a:t>SentencePiece / BPE vocabulary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645920"/>
            <a:ext cx="1627632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3. Embedding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Dense vector projection +</a:t>
            </a:r>
            <a:br/>
            <a:r>
              <a:t>Positional Encodings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08192" y="1645920"/>
            <a:ext cx="1627632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E7490"/>
                </a:solidFill>
              </a:defRPr>
            </a:pPr>
            <a:r>
              <a:t>4. Transformer Encoder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6 Self-Attention &amp; FFN layers</a:t>
            </a:r>
            <a:br/>
            <a:r>
              <a:t>Extracts bidirectional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0416" y="1645920"/>
            <a:ext cx="1627632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E7490"/>
                </a:solidFill>
              </a:defRPr>
            </a:pPr>
            <a:r>
              <a:t>5. Transformer Decoder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6 Cross-Attention layers</a:t>
            </a:r>
            <a:br/>
            <a:r>
              <a:t>Autoregressive target decoding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645920"/>
            <a:ext cx="1627632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6. Telugu Output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Probabilistic output generation</a:t>
            </a:r>
            <a:br/>
            <a:r>
              <a:t>ఫైర్వాల్ (Cleaned translation)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10728655" cy="19202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Key Operational Principles of Small Language Models (SLMs):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Focused Parameter Budget: SLMs (~50M–3B parameters) are trained for task-specific efficiency rather than open-ended multi-tasking.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Compact Encoder-Decoder: Dual-stack Transformer architecture specializes in direct cross-lingual translation with minimal compute.</a:t>
            </a:r>
          </a:p>
          <a:p>
            <a:pPr>
              <a:spcAft>
                <a:spcPts val="300"/>
              </a:spcAft>
              <a:defRPr sz="1100">
                <a:solidFill>
                  <a:srgbClr val="1E293B"/>
                </a:solidFill>
              </a:defRPr>
            </a:pPr>
            <a:r>
              <a:t>• High-Throughput Edge Inference: Consumes &lt; 300 MB RAM, enabling instantaneous offline translation on standard consumer CPUs.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7490"/>
                </a:solidFill>
              </a:defRPr>
            </a:pPr>
            <a:r>
              <a:t>SLIDE 2  |  SLM ARCHITECTURES &amp; INDUSTRY MODELS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Recognized Compact Language Models and Production Deployments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2468880"/>
                <a:gridCol w="2011680"/>
                <a:gridCol w="2011680"/>
                <a:gridCol w="1858975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Model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Architecture &amp; Characteristics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Organizations Using 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Practical Products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MarianMT (Opus-MT)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6L Enc - 6L Dec (~77M params)</a:t>
                      </a:r>
                    </a:p>
                    <a:p>
                      <a:r>
                        <a:t>Seq2Seq NMT; lightweight CPU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Helsinki-NLP, Mozilla, Wikimedia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Restricted general reasoning; sensitive to domain shift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Firefox Offline Translations, Wikipedia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Microsoft Phi-3 Mini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3.8B parameter decoder-only</a:t>
                      </a:r>
                    </a:p>
                    <a:p>
                      <a:r>
                        <a:t>Trained on curated high-quality textbook data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Microsoft, Epic Systems, Azure AI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Cannot memorize vast factual knowledge bases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Copilot on-device, clinical note assistants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Google Gemma 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2.6B parameter decoder</a:t>
                      </a:r>
                    </a:p>
                    <a:p>
                      <a:r>
                        <a:t>Derived from Gemini research, lightweight KV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Google DeepMind, Android Developers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Limited multilingual vocabulary in base 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Android AICore, on-device mobile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Apple OpenELM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270M–3B parameter scaling</a:t>
                      </a:r>
                    </a:p>
                    <a:p>
                      <a:r>
                        <a:t>Layer-wise non-uniform parameter allocation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Apple Machine Learning Research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Strict context window constraints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On-device Siri features, text prediction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DistilBERT / DistilBART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6-layer distilled Transformer (~66M)</a:t>
                      </a:r>
                    </a:p>
                    <a:p>
                      <a:r>
                        <a:t>Knowledge distillation from BERT/BART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Hugging Face, Grammarly, Bloomberg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Loss of ~3-5% nuance compared to teacher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Real-time search indexing, edge NLP pipelines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7490"/>
                </a:solidFill>
              </a:defRPr>
            </a:pPr>
            <a:r>
              <a:t>SLIDE 3  |  HOW LLM WORKS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Autoregressive Transformers &amp; Resource Demands in Large Language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LLM Generation Pipeline: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1. Input Prompt: User query / instructions received.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2. Tokenization: Byte-Pair Encoding (tiktoken / Llama BPE).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3. Embedding &amp; RoPE: High-dimensional projection + Rotary Position.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4. Deep Transformer Blocks: 32 to 128 stacked decoder layers.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5. Multi-Head Self-Attention: Dynamic Query-Key-Value (Q,K,V) relevance.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6. Feed Forward (MLP): Non-linear parameter transformation (SwiGLU).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7. Softmax &amp; Next-Token Prediction: Generates token distribution.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8. Autoregressive Loop: Tokens appended sequentially to context.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242255" cy="475488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Why LLMs Require High Computational Resources: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Massive Parameter Footprint: 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7B to 400B+ parameters require tens to hundreds of gigabytes of high-bandwidth VRAM just to store model weights in memory.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Quadratic Attention Complexity: 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Standard self-attention computes an O(N²) matrix across token sequences, causing exponential memory growth over long contexts.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KV-Cache Scaling: 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Storing Key and Value tensors during generation consumes vast memory for every concurrent user request.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Hardware Specialization: 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</a:defRPr>
            </a:pPr>
            <a:r>
              <a:t>Requires clusters of dedicated AI accelerators (NVIDIA H100 / A100) with tensor parallelism and liquid cooling.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7490"/>
                </a:solidFill>
              </a:defRPr>
            </a:pPr>
            <a:r>
              <a:t>SLIDE 4  |  SLM VS LLM COMPARISON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Comprehensive Dimensional Comparison Between Small and Large Models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7277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58030"/>
                <a:gridCol w="4358030"/>
              </a:tblGrid>
              <a:tr h="528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Small Language Models (SLMs)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Large Language Models (LLMs)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Model Size (Disk)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~50 MB to 1.5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 GB to 800+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Parameter Count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&lt; 100M up to ~3B parameters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7B to 400B+ parameters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Hardware Requirements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Standard Laptop CPU / 1–2 GB RAM (No GPU needed)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High-end GPUs (A100/H100, 24GB–80GB+ VRAM)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Inference Speed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Fast (&lt; 50–100 ms per token on standard CPU)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Requires high-compute GPU clusters &amp; tensor parallelism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Cost &amp; Energy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Near-zero runtime cost; energy-efficient on edge devices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Significant API pricing &amp; high server electricity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Deployment Flexibility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Runs locally, on-device, offline, embedded systems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Predominantly cloud-hosted APIs / datacenter servers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Data Privacy &amp;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100% private; data never leaves the local machine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Often sends sensitive text across external cloud networks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Typical Use Cases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Domain translation, glossary lookup, classification, IoT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Open-domain creative reasoning, complex coding, multi-turn chat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7490"/>
                </a:solidFill>
              </a:defRPr>
            </a:pPr>
            <a:r>
              <a:t>SLIDE 5  |  MY IMPLEMENTATION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Cybersecurity Glossary Translation: English → Telugu Using MarianMT SLM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9377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Pipeline Architecture:</a:t>
            </a:r>
          </a:p>
          <a:p>
            <a:pPr>
              <a:spcAft>
                <a:spcPts val="800"/>
              </a:spcAft>
              <a:defRPr sz="950" b="1">
                <a:solidFill>
                  <a:srgbClr val="0E7490"/>
                </a:solidFill>
              </a:defRPr>
            </a:pPr>
            <a:r>
              <a:t>Glossary PDF  →  PyMuPDF  →  English Terms  →  MarianMT SLM  →  Beam Search (k=4)  →  Artifact Cleaner  →  Telugu Glossary</a:t>
            </a:r>
          </a:p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</a:defRPr>
            </a:pPr>
            <a:r>
              <a:t>Verified Model Output Samples (76.89M SLM):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Firewall               →  ఫైర్వాల్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Authentication         →  ధృవీకరణ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Authorization          →  ధృవీకరణ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Digital Signature      →  డిజిటల్ సంతకం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Password               →  సంకేతపదం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Risk                   →  ప్రమాదం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Phishing               →  ఫిష్సింగ్</a:t>
            </a:r>
          </a:p>
          <a:p>
            <a:br/>
            <a:pPr>
              <a:defRPr sz="850" i="1">
                <a:solidFill>
                  <a:srgbClr val="64748B"/>
                </a:solidFill>
              </a:defRPr>
            </a:pPr>
            <a:r>
              <a:t>* Note: Beam search (k=4) and automated post-processing were used to reduce decoding artifacts. Specialized cybersecurity terminology remains a limitation of the general-domain model.</a:t>
            </a:r>
          </a:p>
        </p:txBody>
      </p:sp>
      <p:pic>
        <p:nvPicPr>
          <p:cNvPr id="5" name="Picture 4" descr="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24225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7490"/>
                </a:solidFill>
              </a:defRPr>
            </a:pPr>
            <a:r>
              <a:t>SLIDE 6  |  IMPLEMENTATION &amp; SOURCE CODE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Public Project Repository, Tech Stack &amp; Reproducibility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28655" cy="201168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Official GitHub Repository (Public):</a:t>
            </a:r>
          </a:p>
          <a:p>
            <a:pPr>
              <a:spcAft>
                <a:spcPts val="800"/>
              </a:spcAft>
              <a:defRPr sz="1600" b="1">
                <a:solidFill>
                  <a:srgbClr val="0E7490"/>
                </a:solidFill>
              </a:defRPr>
            </a:pPr>
            <a:r>
              <a:t>https://github.com/vignesh28102006/nlp-cybersecurity-slm-english-telugu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Clone &amp; Run:  git clone https://github.com/vignesh28102006/nlp-cybersecurity-slm-english-telugu.git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794760"/>
            <a:ext cx="521208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Technologies &amp; Libraries Used: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Python 3.12: Core scripting &amp; data processing runtime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PyTorch: Tensor computation &amp; CPU matrix acceleration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Transformers: Hugging Face MarianMT model loading &amp; tokenization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PyMuPDF (fitz): High-performance PDF text &amp; term extraction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Pandas: Tabular dataset generation &amp; CSV structuring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Jupyter Notebook: Cell-by-cell demonstration &amp; visualization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794760"/>
            <a:ext cx="5242255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SLM Benchmark Summary: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• Model Identifier: 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</a:defRPr>
            </a:pPr>
            <a:r>
              <a:t>   Helsinki-NLP/opus-mt-en-dra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• Architecture: 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</a:defRPr>
            </a:pPr>
            <a:r>
              <a:t>   MarianMT Transformer (6L Enc / 6L Dec)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• Exact Parameters: 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</a:defRPr>
            </a:pPr>
            <a:r>
              <a:t>   76,894,208 parameters (~76.89M)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• RAM Footprint: 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</a:defRPr>
            </a:pPr>
            <a:r>
              <a:t>   293.3 MB (Well within 1 GB limit)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• Load Time on CPU: 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</a:defRPr>
            </a:pPr>
            <a:r>
              <a:t>   1.27 seconds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• Inference Speed: </a:t>
            </a:r>
          </a:p>
          <a:p>
            <a:pPr>
              <a:spcAft>
                <a:spcPts val="100"/>
              </a:spcAft>
              <a:defRPr sz="900">
                <a:solidFill>
                  <a:srgbClr val="1E293B"/>
                </a:solidFill>
              </a:defRPr>
            </a:pPr>
            <a:r>
              <a:t>   56 terms translated in 39.1 seconds (~698 ms/pair)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